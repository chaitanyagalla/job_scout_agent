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2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235440" y="91439"/>
            <a:ext cx="1645920" cy="1645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" y="5394960"/>
            <a:ext cx="1097280" cy="109728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457200"/>
            <a:ext cx="548640" cy="548640"/>
          </a:xfrm>
          <a:prstGeom prst="ellipse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B4D8"/>
                </a:solidFill>
              </a:rPr>
              <a:t>JOB SCOUT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0E0EF"/>
                </a:solidFill>
              </a:rPr>
              <a:t>A Complete Beginner's Guide — From A to Z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566160"/>
            <a:ext cx="1143000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0C4DE"/>
                </a:solidFill>
              </a:rPr>
              <a:t>Agent Architecture  ·  LLMs &amp; Tools  ·  Resume Parsing  ·  Job Scoring  ·  Multi-Provider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B703"/>
                </a:solidFill>
              </a:rPr>
              <a:t>Built with Google ADK · Gemini · FastAPI ·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C4DE"/>
                </a:solidFill>
              </a:rPr>
              <a:t>30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What Are We Building?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Big picture before we dive into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0E0EF"/>
                </a:solidFill>
              </a:rPr>
              <a:t>Job Scout Agent is an AI-powered assistant that helps you find jobs that match YOUR skills.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474720" cy="20116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👤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Upload your resume or describe your skills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77639"/>
            <a:ext cx="3291840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1920240"/>
            <a:ext cx="3474720" cy="20116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20116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🤖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517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Understands you, searches multiple job boards, scores every job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977639"/>
            <a:ext cx="32918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920240"/>
            <a:ext cx="3474720" cy="20116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20116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📊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6517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Ranked list of jobs with match score &amp; missing skills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3977639"/>
            <a:ext cx="3291840" cy="54864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2336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297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703"/>
                </a:solidFill>
              </a:rPr>
              <a:t>Why is this interesting to build?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1.  It combines multiple AI concepts: LLMs, tools, agents, state management, multi-provider APIs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474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2.  It solves a REAL problem — manually checking 10 job boards and comparing them to your resume is painful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3153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3.  It shows when to use AI (conversation, parsing) vs deterministic code (scoring, filtering)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Core Concept: What is an AI Agent?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The single most important idea in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E0EF"/>
                </a:solidFill>
              </a:rPr>
              <a:t>A regular program follows fixed instructions. An AI Agent decides WHAT to do next based on context.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486400" cy="4572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Regular Program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76272"/>
            <a:ext cx="5486400" cy="484632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231136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Follows fixed IF/ELSE rules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79191"/>
            <a:ext cx="5486400" cy="4846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734056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You hard-code every scenario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82112"/>
            <a:ext cx="5486400" cy="484632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236976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Can't understand natural language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85032"/>
            <a:ext cx="5486400" cy="4846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739896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One function = one fixed output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87952"/>
            <a:ext cx="5486400" cy="484632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242816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Deterministic by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548640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0" y="1719072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AI Agent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176272"/>
            <a:ext cx="5486400" cy="484632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2231136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Decides actions by reasoning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679191"/>
            <a:ext cx="5486400" cy="4846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63640" y="2734056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It handles unseen situations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182112"/>
            <a:ext cx="5486400" cy="484632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40" y="3236976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Understands 'Find React jobs near me'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685032"/>
            <a:ext cx="5486400" cy="4846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63640" y="3739896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Can chain multiple tools dynamically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4187952"/>
            <a:ext cx="5486400" cy="484632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63640" y="4242816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Adaptive — responds to 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983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3"/>
                </a:solidFill>
              </a:rPr>
              <a:t>The Loop at the heart of every agent: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394960"/>
            <a:ext cx="2560320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5733288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1. Think
(LLM reads context)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69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5394960"/>
            <a:ext cx="2560320" cy="100584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37560" y="5733288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2. Act
(call a Tool)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5669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5394960"/>
            <a:ext cx="2560320" cy="10058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72200" y="5733288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3. Observe
(read tool result)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5669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5394960"/>
            <a:ext cx="2560320" cy="100584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06840" y="5733288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4. Repeat
(until done)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0D1B2A"/>
                </a:solidFill>
              </a:rPr>
              <a:t>Project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188720"/>
            <a:ext cx="1645920" cy="6400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4416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👤 User
(Browser)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280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0E0EF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188720"/>
            <a:ext cx="201168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31720" y="134416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FastAPI
main.py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280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0E0E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188720"/>
            <a:ext cx="2286000" cy="6400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1344168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Google ADK
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280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0E0EF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188720"/>
            <a:ext cx="2286000" cy="64008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43800" y="1344168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root_agent
agent.py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1280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0E0EF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1280" y="1188720"/>
            <a:ext cx="1737360" cy="64008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87000" y="1344168"/>
            <a:ext cx="16459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Gemini
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0E0EF"/>
                </a:solidFill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331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3"/>
                </a:solidFill>
              </a:rPr>
              <a:t>9 Tools registered with the Agent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743200"/>
            <a:ext cx="1371600" cy="685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278892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extract_resume_profile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09928" y="2743200"/>
            <a:ext cx="1371600" cy="685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55648" y="278892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get_resume_status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91256" y="2743200"/>
            <a:ext cx="1371600" cy="685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36976" y="278892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save_resume_profile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72584" y="2743200"/>
            <a:ext cx="1371600" cy="685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18304" y="278892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clear_resume_profile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53912" y="2743200"/>
            <a:ext cx="137160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99632" y="278892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score_job_match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35240" y="2743200"/>
            <a:ext cx="137160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80960" y="278892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search_jobs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16568" y="2743200"/>
            <a:ext cx="137160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62288" y="278892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filter_saved_jobs_by_experience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97896" y="2743200"/>
            <a:ext cx="137160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643616" y="278892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fetch_job_details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3611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C4DE"/>
                </a:solidFill>
              </a:rPr>
              <a:t>Support Modules (called by tools):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3931920"/>
            <a:ext cx="1828800" cy="82296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01752" y="3977639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0E0EF"/>
                </a:solidFill>
              </a:rPr>
              <a:t>resume_support.py
PDF parsing, LLM extraction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21992" y="3931920"/>
            <a:ext cx="1828800" cy="82296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295144" y="3977639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0E0EF"/>
                </a:solidFill>
              </a:rPr>
              <a:t>search_support.py
Adzuna, Apify, BrowserAct, Demo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15384" y="3931920"/>
            <a:ext cx="1828800" cy="82296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288536" y="3977639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0E0EF"/>
                </a:solidFill>
              </a:rPr>
              <a:t>scoring.py
Deterministic skill matching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08776" y="3931920"/>
            <a:ext cx="1828800" cy="82296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81928" y="3977639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0E0EF"/>
                </a:solidFill>
              </a:rPr>
              <a:t>model_config.py
Model priority chain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02168" y="3931920"/>
            <a:ext cx="1828800" cy="82296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75320" y="3977639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0E0EF"/>
                </a:solidFill>
              </a:rPr>
              <a:t>litellm_compat.py
Provider patches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95560" y="3931920"/>
            <a:ext cx="1828800" cy="82296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268712" y="3977639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0E0EF"/>
                </a:solidFill>
              </a:rPr>
              <a:t>domain_models.py
Pydantic schemas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49834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</a:rPr>
              <a:t>External APIs: Gemini · Groq · NVIDIA NIM · Adzuna · Apify · BrowserAct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Project File Structure — What Every File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760720" cy="512064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9786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703"/>
                </a:solidFill>
              </a:rPr>
              <a:t>agent.py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12344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Brain of the agent — defines the LLM, 9 tools, and instructions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143000"/>
            <a:ext cx="5760720" cy="512064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19786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main.py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2344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FastAPI web server — entry point, handles HTTP requests from browser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09928"/>
            <a:ext cx="5760720" cy="512064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76479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domain_models.py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8013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Pydantic data schemas — ResumeProfile, JobPosting, JobMatchScore etc.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09928"/>
            <a:ext cx="5760720" cy="512064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76479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76F"/>
                </a:solidFill>
              </a:rPr>
              <a:t>scoring.py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8013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Deterministic scoring algorithm — matches resume skills to job requirements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276856"/>
            <a:ext cx="5760720" cy="512064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33172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</a:rPr>
              <a:t>resume_support.py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36829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Resume parser — extracts text from PDF/DOCX, calls LLM to structure 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276856"/>
            <a:ext cx="5760720" cy="512064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233172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703"/>
                </a:solidFill>
              </a:rPr>
              <a:t>resume_tools.py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36829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4 resume-related tools (extract, save, get status, clear)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843784"/>
            <a:ext cx="5760720" cy="512064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289864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search_support.py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293522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Job search providers — Adzuna API, Apify scraper, BrowserAct, Demo mode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843784"/>
            <a:ext cx="5760720" cy="512064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289864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search_tools.py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93522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 search-related tools (search, filter by exp, fetch details)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410712"/>
            <a:ext cx="5760720" cy="512064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3465576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</a:rPr>
              <a:t>model_config.py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350215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Model selector — picks Gemini/Groq/NVIDIA based on env vars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410712"/>
            <a:ext cx="5760720" cy="512064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3465576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76F"/>
                </a:solidFill>
              </a:rPr>
              <a:t>litellm_compat.py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50215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Compatibility patches for non-Gemini LLM providers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977639"/>
            <a:ext cx="5760720" cy="512064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4032503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C4DE"/>
                </a:solidFill>
              </a:rPr>
              <a:t>test_tools.py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4069079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1039-line test suite for all tools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3977639"/>
            <a:ext cx="5760720" cy="512064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4032503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703"/>
                </a:solidFill>
              </a:rPr>
              <a:t>.env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4069079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Secret API keys — never committed to git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Core Concept: How Large Language Models (LLMs)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You must understand this before understanding the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An LLM is a neural network trained on billions of text documents. It predicts the next token.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11338560" cy="100584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755648"/>
            <a:ext cx="1188720" cy="4572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8105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Find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1755648"/>
            <a:ext cx="1188720" cy="4572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65960" y="18105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755648"/>
            <a:ext cx="1188720" cy="4572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18105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Python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1755648"/>
            <a:ext cx="1188720" cy="4572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0600" y="18105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jobs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755648"/>
            <a:ext cx="1188720" cy="4572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8105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1755648"/>
            <a:ext cx="1188720" cy="4572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35240" y="18105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Hyderabad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755648"/>
            <a:ext cx="118872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2560" y="18105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69880" y="1755648"/>
            <a:ext cx="1188720" cy="45720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69880" y="18105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[NEXT?]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788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3"/>
                </a:solidFill>
              </a:rPr>
              <a:t>Key Properties of LLMs used in this project: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00400"/>
            <a:ext cx="5669280" cy="10972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2735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Context Window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79" y="3273552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The LLM reads ALL previous messages + tool results to decide what to do next. This is how it 'remembers' the conversation.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200400"/>
            <a:ext cx="5669280" cy="10972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32735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Temperature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273552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Controls randomness. temp=0.2 (used here) = mostly deterministic. temp=1.0 = very creative. Low temp = consistent answers.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434840"/>
            <a:ext cx="5669280" cy="10972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45079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3"/>
                </a:solidFill>
              </a:rPr>
              <a:t>System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79" y="4507992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Instructions given to the LLM at the start. In agent.py the long instruction string tells the agent HOW to behave.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434840"/>
            <a:ext cx="5669280" cy="10972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0" y="45079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76F"/>
                </a:solidFill>
              </a:rPr>
              <a:t>Function Calling
(Tool Use)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507992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LLMs can output structured JSON asking to call a function (tool). The framework executes the tool and sends the result back to the LLM.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Core Concept: Tools — How the Agent Takes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Tools transform a chatbot into an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Without tools: LLM can only generate text.  With tools: LLM can search the web, read files, call APIs, run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2103120" cy="13716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2212848"/>
            <a:ext cx="20116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User says:
'Find Python jobs'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1488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39" y="1691640"/>
            <a:ext cx="2103120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1759" y="2212848"/>
            <a:ext cx="20116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LLM outputs:
Tool call JSON
{search_jobs,
role:'Python'}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1488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59" y="1691640"/>
            <a:ext cx="2103120" cy="137160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83479" y="2212848"/>
            <a:ext cx="20116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Framework
executes
search_jobs()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1488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79" y="1691640"/>
            <a:ext cx="2103120" cy="13716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199" y="2212848"/>
            <a:ext cx="20116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Tool returns:
List of 5 jobs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19" y="21488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1691640"/>
            <a:ext cx="2103120" cy="13716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46920" y="2212848"/>
            <a:ext cx="20116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LLM reads result,
formats &amp; replies
to 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246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3"/>
                </a:solidFill>
              </a:rPr>
              <a:t>How a Tool is defined in Python (from search_tools.py):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39312"/>
            <a:ext cx="7132320" cy="1920240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639312"/>
            <a:ext cx="7132320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675887"/>
            <a:ext cx="6949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Tool Definition — Python function with type hints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931920"/>
            <a:ext cx="6858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FFC2"/>
                </a:solidFill>
              </a:rPr>
              <a:t>def search_jobs(
    role: str,              # ← what job to search for
    location: str = "",     # ← where (optional)
    max_results: int = 5,   # ← how many jobs
    tool_context: ToolContext = None   # ← ADK injects this automatically
) -&gt; dict:
    """Search for jobs matching the given role and location."""
    # ... implementation ...
    return {"jobs": [...], "total": 5}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3639312"/>
            <a:ext cx="4297680" cy="192024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3703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3"/>
                </a:solidFill>
              </a:rPr>
              <a:t>Why this design?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096512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Type hints → ADK auto-generates JSON schema for the LLM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434840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Docstring → LLM reads this to decide WHEN to call the tool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773168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ToolContext → gives access to session state (memory)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5111496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Returns dict → easy for LLM to read and reason about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669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B703"/>
                </a:solidFill>
              </a:rPr>
              <a:t>Key insight: The LLM never runs code directly — it ASKS for a tool call. The framework runs it and returns the result.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Core Concept: Pydantic — Enforcing Data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domain_models.py — Why we need strict schemas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AI systems deal with unpredictable data (PDFs, scraped web pages, LLM outputs). Pydantic catches errors early.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303520" cy="347472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76F"/>
                </a:solidFill>
              </a:rPr>
              <a:t>❌ Without Pydantic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84831"/>
            <a:ext cx="5120640" cy="2011680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084831"/>
            <a:ext cx="5120640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377439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FFC2"/>
                </a:solidFill>
              </a:rPr>
              <a:t># Raw dict — anything goes
resume = {
    "name": "Alice",
    "skills": "Python",  # should be list!
    "years_exp": "three",# should be int!
}
# Later in code... crashes!
for skill in resume["skills"]:
    ...  # iterates chars, not skills!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600200"/>
            <a:ext cx="6035040" cy="347472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0" y="166420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✅ With Pydantic (domain_models.py)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084831"/>
            <a:ext cx="5760720" cy="2011680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0" y="2084831"/>
            <a:ext cx="5760720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80760" y="2377439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FFC2"/>
                </a:solidFill>
              </a:rPr>
              <a:t>class ResumeProfile(BaseModel):
    candidate_name: str
    skills: list[str]     # MUST be list
    years_experience: int # MUST be int
# Pydantic validates at creation:
profile = ResumeProfile(
    candidate_name="Alice",
    skills=["Python","React"],
    years_experience=3
)
# ✓ Safe to use everywhere!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2578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3"/>
                </a:solidFill>
              </a:rPr>
              <a:t>Models defined in domain_models.py: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62356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ResumeProfile — candidate name, skills, years exp, current 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62356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JobPosting — title, company, location, description, salary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00760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JobMatchScore — score 0-100, fit verdict, matched skills, blockers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600760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SearchContext — what was searched, when, results count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Google ADK — The Framework Doing the Heavy Lifting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agent.py uses this — understanding it is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ADK (Agent Development Kit) is Google's open-source framework for building LLM agents. It handles the loop.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303520" cy="420624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What ADK handles FOR you: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84831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Sending messages to the LLM (Gemini or LiteLLM)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23744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Detecting when LLM wants to call a 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62656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Executing the tool function with the right arguments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01568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Sending tool result back to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40479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Repeating until LLM gives a final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79392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Managing conversation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18304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Handling file/artifact attachments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157216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Session state persistence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1600200"/>
            <a:ext cx="6035040" cy="420624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0" y="166420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3"/>
                </a:solidFill>
              </a:rPr>
              <a:t>What YOU write (agent.py):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2084831"/>
            <a:ext cx="5760720" cy="3657600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0" y="2084831"/>
            <a:ext cx="5760720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5040" y="212140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agent.py — all you write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377439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FFC2"/>
                </a:solidFill>
              </a:rPr>
              <a:t>root_agent = Agent(
  model=model_config.chat_model,
  name="job_scout",
  instruction="""
    You are a job search assistant.
    When user asks for jobs, call
    search_jobs() first...
    [long instructions]
  """,
  tools=[
    search_jobs,
    score_job_match,
    extract_resume_profile_from_artifact,
    # ... 6 more tools
  ],
  before_model_callback=add_runtime_hints,
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B703"/>
                </a:solidFill>
              </a:rPr>
              <a:t>Why ADK instead of building from scratch? → Building the tool-calling loop yourself takes 500+ lines. ADK does it reliably.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agent.py — The Agent Brain (339 lines)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Every important section explained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669280" cy="242316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Imports &amp; Model Setup
(lines 1-40)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Imports ADK, LiteLLM compat patches, model_config.
Patches run at import time — ensures provider fixes apply before anything else.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5486400" cy="777240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76148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0E0EF"/>
                </a:solidFill>
              </a:rPr>
              <a:t>💡 Why import order matters: litellm_compat must patch BEFORE ADK uses LiteLLM.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669280" cy="242316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6187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add_runtime_hints()
callback (lines 42-110)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Called BEFORE every LLM call.
Injects resume profile summary + current search context into the system prompt dynamically.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697480"/>
            <a:ext cx="5486400" cy="777240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76148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0E0EF"/>
                </a:solidFill>
              </a:rPr>
              <a:t>💡 Why dynamic hints? The LLM system prompt is static. This adds live state without changing the base prompt.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94760"/>
            <a:ext cx="5669280" cy="242316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86791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3"/>
                </a:solidFill>
              </a:rPr>
              <a:t>_sanitize_for_nvidia()
(lines 112-160)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8912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NVIDIA NIM doesn't support binary file attachments.
This function replaces file parts with a text placeholder before sending to NVIDIA.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03520"/>
            <a:ext cx="5486400" cy="777240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36752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0E0EF"/>
                </a:solidFill>
              </a:rPr>
              <a:t>💡 Why not just remove files? Removing silently breaks functionality. Replacing with text placeholder tells LLM what was there.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794760"/>
            <a:ext cx="5669280" cy="242316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386791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76F"/>
                </a:solidFill>
              </a:rPr>
              <a:t>root_agent = Agent(...)
(lines 162-339)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8912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The actual agent object. Registers all 9 tools, sets model, temperature=0.2, long instruction string, and the before_model_callback.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5303520"/>
            <a:ext cx="5486400" cy="777240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536752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0E0EF"/>
                </a:solidFill>
              </a:rPr>
              <a:t>💡 Why temperature=0.2? We want consistent, predictable answers — not creative storytelling. Low temp = reliable tool calls.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Resume Processing — The 3-Layer Fallback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resume_support.py + resume_tools.py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Problem: Resumes come as PDFs with complex layouts. We need structured data (name, skills, years). How?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1338560" cy="137160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57200" y="2011680"/>
            <a:ext cx="502920" cy="50292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83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Layer 1: LOCAL TEXT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94560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Try to extract text directly from the PDF binary.
No API call needed — fast and free.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764792"/>
            <a:ext cx="4572000" cy="1207008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86600" y="192024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✓ Works for 80% of PDFs
✗ Fails on scanned/image PDFs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F476F"/>
                </a:solidFill>
              </a:rPr>
              <a:t>↓  if fails, try next layer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00400"/>
            <a:ext cx="11338560" cy="137160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7200" y="3520440"/>
            <a:ext cx="502920" cy="502920"/>
          </a:xfrm>
          <a:prstGeom prst="ellipse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91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3"/>
                </a:solidFill>
              </a:rPr>
              <a:t>Layer 2: LLM TEXT-MODEL PARSE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703320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Send extracted text to a cheap LLM (Groq/Gemini).
Ask it to return structured JSON with name, skills, years.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3273552"/>
            <a:ext cx="4572000" cy="1207008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86600" y="342900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✓ Works when text was extracted
✗ Still fails on image-based PDFs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177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F476F"/>
                </a:solidFill>
              </a:rPr>
              <a:t>↓  if fails, try next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709160"/>
            <a:ext cx="11338560" cy="137160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" y="502920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5029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800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Layer 3: GEMINI ATTACHMENT PARSE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212080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Send the actual PDF file to Gemini (vision model).
Gemini can 'see' and read image-based PDFs.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4782312"/>
            <a:ext cx="4572000" cy="1207008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86600" y="493776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✓ Works on all PDFs
✗ Most expensive, requires Gemini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2179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FFB703"/>
                </a:solidFill>
              </a:rPr>
              <a:t>Why 3 layers? Different resumes need different approaches. Trying fast local first saves API costs. Falling back ensures reliability.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resume_support.py — How PDF Text Extraction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935 lines — the most complex support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PDFs are NOT plain text files. They contain binary streams with compressed, encoded text. We must decode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338560" cy="15544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3"/>
                </a:solidFill>
              </a:rPr>
              <a:t>PDF Internal Structure (what we actually parse):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FFC2"/>
                </a:solidFill>
              </a:rPr>
              <a:t>Raw PDF stream:   BT  /F1 12 Tf  72 700 Td  (Alice Johnson) Tj  0 -20 Td  &lt;50797468 6F6E&gt; Tj  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0E0EF"/>
                </a:solidFill>
              </a:rPr>
              <a:t>After decoding:   Alice Johnson   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7004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</a:rPr>
              <a:t>BT=Begin Text, Tf=Font, Td=Move position, Tj=Show literal text, &lt;&gt;Hex=hex-encoded text, ET=End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735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3"/>
                </a:solidFill>
              </a:rPr>
              <a:t>Key functions in resume_support.py: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639312"/>
            <a:ext cx="5669280" cy="73152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69417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_extract_pdf_text()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694176"/>
            <a:ext cx="3154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FFFFFF"/>
                </a:solidFill>
              </a:rPr>
              <a:t>Reads raw PDF bytes. Finds text streams (BT...ET). Decodes hex-encoded strings. Handles both (literal) and &lt;hex&gt; text formats.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639312"/>
            <a:ext cx="5669280" cy="73152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69417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_structure_with_llm()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3694176"/>
            <a:ext cx="3154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Takes raw extracted text, builds a prompt asking LLM to return JSON with name/skills/years/role. Validates with Pydantic.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434840"/>
            <a:ext cx="5669280" cy="73152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489703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703"/>
                </a:solidFill>
              </a:rPr>
              <a:t>_detect_role_from_text()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4489703"/>
            <a:ext cx="3154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Regex patterns match phrases like 'Full Stack Developer', 'Frontend Engineer' to classify candidate role.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434840"/>
            <a:ext cx="5669280" cy="73152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4489703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</a:rPr>
              <a:t>_extract_years_from_text()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4489703"/>
            <a:ext cx="3154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Regex finds patterns like '3 years of experience', '1-3 years', '2+ years' and returns an integer.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30368"/>
            <a:ext cx="5669280" cy="73152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528523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76F"/>
                </a:solidFill>
              </a:rPr>
              <a:t>extract_and_structure_resume()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5285231"/>
            <a:ext cx="3154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Orchestrates all layers. Tries local→LLM text→LLM attachment. Returns ResumeProfile or error dict.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5230368"/>
            <a:ext cx="5669280" cy="73152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528523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_select_resume_artifact()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5285231"/>
            <a:ext cx="3154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Given list of uploaded files, picks the one that looks like a resume (checks MIME type + extension).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The Scoring Algorithm — How Jobs Get Ranked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scoring.py — 505 lines, the most important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Every job gets a 0-100 score. Higher score = better match. Score drives the ranking you see.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276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703"/>
                </a:solidFill>
              </a:rPr>
              <a:t>Final Score Formula: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</a:rPr>
              <a:t>Score = sum of weighted components: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2423160"/>
            <a:ext cx="6400800" cy="365760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560320" y="2423160"/>
            <a:ext cx="2880360" cy="36576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37743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F476F"/>
                </a:solidFill>
              </a:rPr>
              <a:t>Required Skills
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4231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76F"/>
                </a:solidFill>
              </a:rPr>
              <a:t>45%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3044952"/>
            <a:ext cx="6400800" cy="365760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560320" y="3044952"/>
            <a:ext cx="96012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99923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</a:rPr>
              <a:t>Preferred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0449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15%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3666744"/>
            <a:ext cx="6400800" cy="365760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60320" y="3666744"/>
            <a:ext cx="640080" cy="3657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62102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6D6A0"/>
                </a:solidFill>
              </a:rPr>
              <a:t>General Skills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66674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10%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4288536"/>
            <a:ext cx="6400800" cy="365760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560320" y="4288536"/>
            <a:ext cx="768096" cy="36576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424281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B703"/>
                </a:solidFill>
              </a:rPr>
              <a:t>Title Alignment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28853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3"/>
                </a:solidFill>
              </a:rPr>
              <a:t>12%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4910327"/>
            <a:ext cx="6400800" cy="365760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560320" y="4910327"/>
            <a:ext cx="640080" cy="36576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4864607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0E0EF"/>
                </a:solidFill>
              </a:rPr>
              <a:t>Experience
Alignment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4910327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10%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5532120"/>
            <a:ext cx="6400800" cy="365760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560320" y="5532120"/>
            <a:ext cx="512064" cy="36576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54864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B0C4DE"/>
                </a:solidFill>
              </a:rPr>
              <a:t>Keyword Overlap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5532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C4DE"/>
                </a:solidFill>
              </a:rPr>
              <a:t>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1965960"/>
            <a:ext cx="3017520" cy="393192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52560" y="20299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3"/>
                </a:solidFill>
              </a:rPr>
              <a:t>Score → Verdict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6840" y="2423160"/>
            <a:ext cx="2926080" cy="71323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98280" y="24871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80-100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2487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Strong Match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6840" y="3227832"/>
            <a:ext cx="2926080" cy="713232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098280" y="3291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60-79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Good Match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6840" y="4032504"/>
            <a:ext cx="2926080" cy="713232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98280" y="40965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703"/>
                </a:solidFill>
              </a:rPr>
              <a:t>40-59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40965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Partial Match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06840" y="4837176"/>
            <a:ext cx="2926080" cy="713232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098280" y="490118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76F"/>
                </a:solidFill>
              </a:rPr>
              <a:t>0-39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49011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Weak Match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0167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EF476F"/>
                </a:solidFill>
              </a:rPr>
              <a:t>Penalty applied when &gt;50% required skills are missing: score × 0.72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3825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</a:rPr>
              <a:t>Blockers: Skills/experience missing that would make hiring impossible → shown separately from score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Design Decision: Why Deterministic Scoring, Not 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The most important architectural choice in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E0EF"/>
                </a:solidFill>
              </a:rPr>
              <a:t>We COULD have asked the LLM: 'Rate this job match 0-100'. Why didn't we?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27632"/>
            <a:ext cx="5669280" cy="43891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66420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LLM-based Scoring (NOT used)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27632"/>
            <a:ext cx="5669280" cy="43891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166420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Deterministic Scoring (USED)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669280" cy="475488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2148840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</a:rPr>
              <a:t>✗  Non-deterministic — same job scores differently each 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03120"/>
            <a:ext cx="5669280" cy="475488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27648" y="2148840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✓  Always same score for same inputs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06039"/>
            <a:ext cx="566928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651760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</a:rPr>
              <a:t>✗  Can 'hallucinate' matching skills that don't exist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606039"/>
            <a:ext cx="566928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2651760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✓  Only matches skills explicitly found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08960"/>
            <a:ext cx="5669280" cy="475488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" y="3154680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</a:rPr>
              <a:t>✗  Slow — extra LLM call per job (expensive at scale)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108960"/>
            <a:ext cx="5669280" cy="475488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27648" y="3154680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✓  Fast — no API call, runs in microseconds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11880"/>
            <a:ext cx="566928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" y="3657600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</a:rPr>
              <a:t>✗  Hard to explain 'why this score'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611880"/>
            <a:ext cx="566928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7648" y="3657600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✓  Shows exact matched/missing skills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114800"/>
            <a:ext cx="5669280" cy="475488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4160520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</a:rPr>
              <a:t>✗  Can't run automated tests to check correctness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114800"/>
            <a:ext cx="5669280" cy="475488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27648" y="4160520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✓  Full test suite with fixtures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617720"/>
            <a:ext cx="566928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4663440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</a:rPr>
              <a:t>✗  Score drifts if model updates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617720"/>
            <a:ext cx="566928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27648" y="4663440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✓  Score is stable and version-controlled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212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3"/>
                </a:solidFill>
              </a:rPr>
              <a:t>When IS LLM used in scoring-adjacent tasks?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5778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Resume parsing (extracting skills from PDF text) — LLM is better than regex for understanding unstructured text.
Job description pre-processing (skill classification: required vs preferred) — LLM reads context better than keyword matching.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scoring.py — The Skill Ontology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Hand-curated skill weights that reflect job market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53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An ontology is a structured knowledge map. Here it maps 33 skills to weights reflecting their market importance.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727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Why weights? Not all skills are equal. Python expertise is harder to replace than CSS knowledge.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385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3"/>
                </a:solidFill>
              </a:rPr>
              <a:t>Skill Weight Chart (higher = more valuable in job descriptions):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04288"/>
            <a:ext cx="1828800" cy="15544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487168"/>
            <a:ext cx="1188720" cy="8229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23113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D6A0"/>
                </a:solidFill>
              </a:rPr>
              <a:t>1.4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5387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9152" y="2304288"/>
            <a:ext cx="1828800" cy="15544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79192" y="2527662"/>
            <a:ext cx="1188720" cy="7935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79192" y="2260527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D6A0"/>
                </a:solidFill>
              </a:rPr>
              <a:t>1.35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4872" y="35387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Machine Learning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52544" y="2304288"/>
            <a:ext cx="1828800" cy="15544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72584" y="2545950"/>
            <a:ext cx="1188720" cy="764177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72584" y="228991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1.3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8264" y="35387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React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45936" y="2304288"/>
            <a:ext cx="1828800" cy="15544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65976" y="2575342"/>
            <a:ext cx="1188720" cy="734785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65976" y="231931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1.25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35387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Node.js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39328" y="2304288"/>
            <a:ext cx="1828800" cy="15544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659368" y="2604733"/>
            <a:ext cx="1188720" cy="705394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59368" y="2348701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B703"/>
                </a:solidFill>
              </a:rPr>
              <a:t>1.2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35387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SQL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20" y="2304288"/>
            <a:ext cx="1828800" cy="15544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652760" y="2604733"/>
            <a:ext cx="1188720" cy="705394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652760" y="2348701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B703"/>
                </a:solidFill>
              </a:rPr>
              <a:t>1.2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78440" y="35387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995928"/>
            <a:ext cx="1828800" cy="15544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" y="4325765"/>
            <a:ext cx="1188720" cy="67600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4069733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0E0EF"/>
                </a:solidFill>
              </a:rPr>
              <a:t>1.15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52303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TypeScript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59152" y="3995928"/>
            <a:ext cx="1828800" cy="15544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679192" y="4325765"/>
            <a:ext cx="1188720" cy="67600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679192" y="4069733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0E0EF"/>
                </a:solidFill>
              </a:rPr>
              <a:t>1.15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04872" y="52303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AWS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52544" y="3995928"/>
            <a:ext cx="1828800" cy="15544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672584" y="4355156"/>
            <a:ext cx="1188720" cy="646611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72584" y="4099124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76F"/>
                </a:solidFill>
              </a:rPr>
              <a:t>1.1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52303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45936" y="3995928"/>
            <a:ext cx="1828800" cy="15544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665976" y="4413939"/>
            <a:ext cx="1188720" cy="587828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65976" y="4157907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0C4DE"/>
                </a:solidFill>
              </a:rPr>
              <a:t>1.0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91656" y="52303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Git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39328" y="3995928"/>
            <a:ext cx="1828800" cy="15544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659368" y="4472722"/>
            <a:ext cx="1188720" cy="529045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59368" y="421669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0C4DE"/>
                </a:solidFill>
              </a:rPr>
              <a:t>0.9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5048" y="52303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HTML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332720" y="3995928"/>
            <a:ext cx="1828800" cy="15544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652760" y="4590288"/>
            <a:ext cx="1188720" cy="41148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652760" y="433425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0C4DE"/>
                </a:solidFill>
              </a:rPr>
              <a:t>0.7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78440" y="52303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CSS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760720"/>
            <a:ext cx="11338560" cy="8686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57200" y="58247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3"/>
                </a:solidFill>
              </a:rPr>
              <a:t>Why not use NLP embeddings to compare skills automatically?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144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Embeddings require training data, are opaque, and can drift. Hand-curated weights are transparent, explainable, and easy to update.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scoring.py — Skill Classification from Job Descriptions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How the algorithm reads 'Required' vs 'Preferred'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Job descriptions mix required and nice-to-have skills. Classification affects scoring weights heavily (45% vs 15%).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27632"/>
            <a:ext cx="6858000" cy="2926080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27632"/>
            <a:ext cx="6858000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64208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Skill classification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6583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FFC2"/>
                </a:solidFill>
              </a:rPr>
              <a:t># From scoring.py — classify_jd_skills()
REQUIRED_MARKERS = [
    "required", "must have", "must-have", "essential",
    "you must", "we require", "mandatory", "minimum requirement"
]
PREFERRED_MARKERS = [
    "preferred", "nice to have", "bonus", "plus",
    "desired", "ideally", "an advantage", "a plus"
]
# How it works:
# 1. Split job description into paragraphs
# 2. Find paragraph containing skill keyword
# 3. Check if REQUIRED_MARKERS appear nearby (within 200 chars)
# 4. Check if PREFERRED_MARKERS appear nearby
# 5. If neither: classify as "general" (middle weight)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627632"/>
            <a:ext cx="4572000" cy="29260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79" y="169164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3"/>
                </a:solidFill>
              </a:rPr>
              <a:t>Example Job Description: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084831"/>
            <a:ext cx="4297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F476F"/>
                </a:solidFill>
              </a:rPr>
              <a:t>Requirements (REQUIRED):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313432"/>
            <a:ext cx="4297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F476F"/>
                </a:solidFill>
              </a:rPr>
              <a:t>• Python — 3+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542032"/>
            <a:ext cx="4297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F476F"/>
                </a:solidFill>
              </a:rPr>
              <a:t>• PostgreSQL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770632"/>
            <a:ext cx="4297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79" y="2999232"/>
            <a:ext cx="4297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4D8"/>
                </a:solidFill>
              </a:rPr>
              <a:t>Nice to Have (PREFERRED):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227832"/>
            <a:ext cx="4297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4D8"/>
                </a:solidFill>
              </a:rPr>
              <a:t>• React knowledge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456432"/>
            <a:ext cx="4297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4D8"/>
                </a:solidFill>
              </a:rPr>
              <a:t>• Docker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685031"/>
            <a:ext cx="4297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79" y="3913631"/>
            <a:ext cx="4297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B703"/>
                </a:solidFill>
              </a:rPr>
              <a:t>About the role (GENERAL):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142231"/>
            <a:ext cx="4297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B703"/>
                </a:solidFill>
              </a:rPr>
              <a:t>• Team collaboration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370831"/>
            <a:ext cx="4297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B703"/>
                </a:solidFill>
              </a:rPr>
              <a:t>• Agile methodology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70916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3"/>
                </a:solidFill>
              </a:rPr>
              <a:t>Effect on scoring: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074920"/>
            <a:ext cx="11338560" cy="475488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512064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76F"/>
                </a:solidFill>
              </a:rPr>
              <a:t>Required Skills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7480" y="5102352"/>
            <a:ext cx="731520" cy="34747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97480" y="5120640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51206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Missing required → score × 0.72 penalty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605272"/>
            <a:ext cx="11338560" cy="475488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56509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Preferred Skills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97480" y="5632704"/>
            <a:ext cx="7315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697480" y="5650992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15%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565099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Missing preferred → small deduction only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6135624"/>
            <a:ext cx="11338560" cy="475488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618134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3"/>
                </a:solidFill>
              </a:rPr>
              <a:t>General Skills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97480" y="6163056"/>
            <a:ext cx="731520" cy="347472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697480" y="6181344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10%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618134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Missing general → minimal impact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Job Search System — 4 Providers, 1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search_support.py — 849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Different API credentials = different providers. Same function interface hides the complexity.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27632"/>
            <a:ext cx="5669280" cy="233172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70078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1. Adzuna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305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REST API — structured JSON responses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7802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Supports: role, location, salary, remote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254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Country codes: gb (UK), us, in (India), ca, 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729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Needs: ADZUNA_APP_ID + ADZUNA_APP_KEY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Best for: UK/US jobs with salary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27632"/>
            <a:ext cx="5669280" cy="233172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70078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2. Apify (Indeed Scraper)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305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Scrapes Indeed job listings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7802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Apify runs a headless browser in 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8254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Returns: title, company, description, URL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729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Needs: APIFY_TOKEN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20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Best for: Large volume, India jobs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96512"/>
            <a:ext cx="5669280" cy="233172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16966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3"/>
                </a:solidFill>
              </a:rPr>
              <a:t>3. BrowserAct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994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Automated browser workflow 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94690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Runs predefined workflow in cloud browser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9437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Polls until workflow completes (async)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418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Needs: BROWSERACT_API_KEY + WORKFLOW_ID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989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Best for: Sites that block regular scraping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096512"/>
            <a:ext cx="5669280" cy="233172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416966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4. Demo Mode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994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No credentials needed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94690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Returns synthetic (fake) job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29437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Used for testing without API costs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6418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Auto-activates when no credentials found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989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Jobs are realistic but not real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B703"/>
                </a:solidFill>
              </a:rPr>
              <a:t>Why 4 providers? Redundancy + coverage. Adzuna has salary data; Apify covers Indeed; BrowserAct bypasses anti-bot measures; Demo allows dev without spending money.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search_tools.py — The 3 Search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How the agent searches, filters, and fetches jobs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338560" cy="1664208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4358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search_jobs()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24358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0E0EF"/>
                </a:solidFill>
              </a:rPr>
              <a:t>Main search tool. Accepts role, location, max_results, experience_level.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6420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Handles multi-role: 'Python or React' → splits and searches both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56816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Calls whichever provider has credentials (Adzuna→Apify→BrowserAct→Demo)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9424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Merges and deduplicates results across roles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508760"/>
            <a:ext cx="3840480" cy="777240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0" y="1508760"/>
            <a:ext cx="3840480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54533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Example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1801368"/>
            <a:ext cx="356616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FFC2"/>
                </a:solidFill>
              </a:rPr>
              <a:t>search_jobs(role='Python Developer', location='Hyderabad', max_results=5)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71800"/>
            <a:ext cx="11338560" cy="1664208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0266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filter_saved_jobs_by_experience()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02666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0E0EF"/>
                </a:solidFill>
              </a:rPr>
              <a:t>Filters ALREADY searched jobs by experience level. No new search.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44728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User says: 'Show only entry level jobs' → calls this 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39896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Reads previous results from session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032504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Parses experience requirements from job description 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291840"/>
            <a:ext cx="3840480" cy="777240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0" y="3291840"/>
            <a:ext cx="3840480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63840" y="332841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Example 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3584448"/>
            <a:ext cx="356616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FFC2"/>
                </a:solidFill>
              </a:rPr>
              <a:t>filter_saved_jobs_by_experience(experience_level='entry')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754880"/>
            <a:ext cx="11338560" cy="1664208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8097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3"/>
                </a:solidFill>
              </a:rPr>
              <a:t>fetch_job_details()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80974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0E0EF"/>
                </a:solidFill>
              </a:rPr>
              <a:t>Fetches full job description for a specific job URL.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23036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Used when user wants more detail about a specific job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522976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Makes HTTP request to job URL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815584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Extracts full description (not just snippet)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5074920"/>
            <a:ext cx="3840480" cy="777240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772400" y="5074920"/>
            <a:ext cx="3840480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63840" y="511149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Example call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5367528"/>
            <a:ext cx="356616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FFC2"/>
                </a:solidFill>
              </a:rPr>
              <a:t>fetch_job_details(job_url='https://adzuna.com/jobs/123')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1908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B703"/>
                </a:solidFill>
              </a:rPr>
              <a:t>Session State is key: search_jobs saves results → filter_saved_jobs reads them. No need to search again!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model_config.py — Multi-Model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Why 3 different LLMs? Cost, capability, availability.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Different tasks need different models. Using the right model saves cost without sacrificing quality.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27632"/>
            <a:ext cx="3749039" cy="411480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70078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3"/>
                </a:solidFill>
              </a:rPr>
              <a:t>chat_model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2140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Main conversation + tool calling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60320"/>
            <a:ext cx="11430000" cy="36576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63347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C4DE"/>
                </a:solidFill>
              </a:rPr>
              <a:t>Model Chain: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0779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Gemini 2.0 Flash → Groq Llama-3.3 → NVIDIA Nemotron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47472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C4DE"/>
                </a:solidFill>
              </a:rPr>
              <a:t>Needs: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49039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Needs: tool calling, fast responses, long 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5029200"/>
            <a:ext cx="3657600" cy="594360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507492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0E0EF"/>
                </a:solidFill>
              </a:rPr>
              <a:t>Priority: GOOGLE_API_KEY → GROQ_API_KEY → NVIDIA_NIM_API_KEY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627632"/>
            <a:ext cx="3749039" cy="411480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79" y="170078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resume_text_model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212140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Structures resume text into JSON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560320"/>
            <a:ext cx="11430000" cy="36576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79" y="263347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C4DE"/>
                </a:solidFill>
              </a:rPr>
              <a:t>Model Chain: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290779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Same chain as chat_model (can use cheaper model)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347472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C4DE"/>
                </a:solidFill>
              </a:rPr>
              <a:t>Needs: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79" y="3749039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Needs: JSON output, instruction following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5029200"/>
            <a:ext cx="3657600" cy="594360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15968" y="507492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0E0EF"/>
                </a:solidFill>
              </a:rPr>
              <a:t>Can set JOB_SCOUT_RESUME_MODEL env var to override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1627632"/>
            <a:ext cx="3749039" cy="411480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170078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resume_attachment_model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12140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Reads PDF files visually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560320"/>
            <a:ext cx="11430000" cy="36576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0" y="263347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C4DE"/>
                </a:solidFill>
              </a:rPr>
              <a:t>Model Chain: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90779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ALWAYS Gemini (hard requirement)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47472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C4DE"/>
                </a:solidFill>
              </a:rPr>
              <a:t>Needs: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749039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Needs: vision capability to 'see' PDFs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80" y="5029200"/>
            <a:ext cx="3657600" cy="594360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47888" y="507492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0E0EF"/>
                </a:solidFill>
              </a:rPr>
              <a:t>Why Gemini only? Other providers don't support PDF attachments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8064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3"/>
                </a:solidFill>
              </a:rPr>
              <a:t>Model Priority Chain (how the code chooses):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6172200"/>
            <a:ext cx="2103120" cy="59436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6304788"/>
            <a:ext cx="20116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JOB_SCOUT_MODEL
(env var override)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6291072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33472" y="6172200"/>
            <a:ext cx="2103120" cy="5943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679191" y="6304788"/>
            <a:ext cx="20116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GOOGLE_API_KEY
→ Gemini 2.0 Flash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6291072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92624" y="6172200"/>
            <a:ext cx="2103120" cy="59436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38344" y="6304788"/>
            <a:ext cx="20116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GROQ_API_KEY
→ Llama-3.3-70b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41464" y="6291072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51776" y="6172200"/>
            <a:ext cx="2103120" cy="5943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97496" y="6304788"/>
            <a:ext cx="20116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NVIDIA_NIM_API_KEY
→ Nemotron-Super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0616" y="6291072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10928" y="6172200"/>
            <a:ext cx="2103120" cy="59436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756648" y="6304788"/>
            <a:ext cx="20116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ERROR: no model
configured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litellm_compat.py — Making Different LLMs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288 lines of compatibility glue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Problem: Groq and NVIDIA don't follow OpenAI spec perfectly. This file patches ADK to handle the differences.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27632"/>
            <a:ext cx="11338560" cy="150876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_repair_missing_tool_call_ids()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84831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What it fixes: Groq sometimes returns tool calls without tool_call_id (a required field).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957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</a:rPr>
              <a:t>Why it matters: ADK checks for tool_call_id. Without it, the tool result can't be linked back to the tool call → conversation breaks.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0662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D6A0"/>
                </a:solidFill>
              </a:rPr>
              <a:t>✓ Fix: Walks the message history. If a tool call is missing an ID, generates one and back-fills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27832"/>
            <a:ext cx="11338560" cy="150876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_normalize_groq_content_blocks()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85031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What it fixes: Groq rejects content blocks with unsupported types (like 'image' or 'file').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959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</a:rPr>
              <a:t>Why it matters: ADK builds messages with all content types. Groq errors out on unknown types.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0682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D6A0"/>
                </a:solidFill>
              </a:rPr>
              <a:t>✓ Fix: Before sending to Groq, rewrites content blocks to only include types Groq supports (text only).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828032"/>
            <a:ext cx="11338560" cy="150876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8920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3"/>
                </a:solidFill>
              </a:rPr>
              <a:t>_provider_rejects_file_parts()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85231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What it detects: Whether the current provider (NVIDIA) rejects file/binary content in messages.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5961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</a:rPr>
              <a:t>Why it matters: If resume PDF is in context and we switch to NVIDIA, it would crash.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0702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D6A0"/>
                </a:solidFill>
              </a:rPr>
              <a:t>✓ Fix: In agent.py _sanitize_for_nvidia() uses this to replace file content with '[Resume attached]' placeholder.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739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B703"/>
                </a:solidFill>
              </a:rPr>
              <a:t>Why monkey-patch instead of subclassing? ADK's LiteLLM bridge is third-party code we can't modify. Patching at runtime is the only clean option.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Core Concept: Session State — Agent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How the agent remembers things across conversation 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Without session state, every message starts fresh. The agent would forget your resume and search results each turn.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276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3"/>
                </a:solidFill>
              </a:rPr>
              <a:t>Conversation Timeline with Session State: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93392"/>
            <a:ext cx="2788920" cy="210312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993392"/>
            <a:ext cx="2788920" cy="3657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029968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Turn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You: 'Here is my resume'
Agent: extract_resume_profile_from_artifact()
→ Saves ResumeProfile to session 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993392"/>
            <a:ext cx="2788920" cy="210312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840" y="1993392"/>
            <a:ext cx="278892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7560" y="2029968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Turn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2316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You: 'Find Python jobs in Hyderabad'
Agent: search_jobs() → finds 5 jobs
→ Saves SearchContext to session state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993392"/>
            <a:ext cx="2788920" cy="210312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993392"/>
            <a:ext cx="2788920" cy="36576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2029968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Turn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42316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You: 'Show only entry level'
Agent: filter_saved_jobs_by_experience()
→ Reads saved jobs from state (no new search!)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993392"/>
            <a:ext cx="2788920" cy="210312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0" y="1993392"/>
            <a:ext cx="2788920" cy="36576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9720" y="2029968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Turn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42316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You: 'Score the top job for me'
Agent: score_job_match()
→ Reads ResumeProfile AND job from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251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3"/>
                </a:solidFill>
              </a:rPr>
              <a:t>What lives in Session State: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617720"/>
            <a:ext cx="11338560" cy="1691640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709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resume_profile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709160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ResumeProfile object — skills, years exp, name, role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0932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703"/>
                </a:solidFill>
              </a:rPr>
              <a:t>search_context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09320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SearchContext — what was searched, how many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4772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saved_jobs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477256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List[JobPosting] — the actual job listings from last 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613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</a:rPr>
              <a:t>last_search_role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861304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str — e.g. 'Python Developer' (for follow-up filters)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</a:rPr>
              <a:t>Stored in: tool_context.state (dict). ADK persists this across turns in the same session.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Complete Data Flow — Resume-Aware Job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End-to-end: what happens when you upload a resume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234440"/>
            <a:ext cx="1828800" cy="12801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170992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User uploads
resume.pdf
+ 'Find React jobs'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5603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0C4DE"/>
                </a:solidFill>
              </a:rPr>
              <a:t>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6916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176272" y="1234440"/>
            <a:ext cx="182880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21992" y="170992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FastAPI receives
multipart request
→ creates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25603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0C4DE"/>
                </a:solidFill>
              </a:rPr>
              <a:t>main.py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1" y="16916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9664" y="1234440"/>
            <a:ext cx="1828800" cy="1280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15384" y="170992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ADK routes to
root_agent with
file attachment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9664" y="25603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0C4DE"/>
                </a:solidFill>
              </a:rPr>
              <a:t>ADK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4184" y="16916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3056" y="1234440"/>
            <a:ext cx="1828800" cy="128016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08776" y="170992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LLM sees file,
calls extract_resume
_profile_from_artifact()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5603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0C4DE"/>
                </a:solidFill>
              </a:rPr>
              <a:t>Gemini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7576" y="16916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6448" y="1234440"/>
            <a:ext cx="1828800" cy="128016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02168" y="170992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PDF parsed:
local→LLM text
→Gemini 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25603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0C4DE"/>
                </a:solidFill>
              </a:rPr>
              <a:t>resume
_support.py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0967" y="16916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0" y="1234440"/>
            <a:ext cx="1828800" cy="12801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95560" y="170992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ResumeProfile
saved to
session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25603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0C4DE"/>
                </a:solidFill>
              </a:rPr>
              <a:t>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2697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E0EF"/>
                </a:solidFill>
              </a:rPr>
              <a:t>↓  continues below  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3749039"/>
            <a:ext cx="1828800" cy="128016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8600" y="422452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LLM calls
search_jobs(
role='React')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50749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0C4DE"/>
                </a:solidFill>
              </a:rPr>
              <a:t>Gemini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42062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76272" y="3749039"/>
            <a:ext cx="182880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21992" y="422452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Adzuna/Apify
returns 5 jobs
→ saved to 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76272" y="50749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0C4DE"/>
                </a:solidFill>
              </a:rPr>
              <a:t>search
_support.py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50791" y="42062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69664" y="3749039"/>
            <a:ext cx="1828800" cy="128016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15384" y="422452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LLM calls
score_job_match
for each job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69664" y="50749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0C4DE"/>
                </a:solidFill>
              </a:rPr>
              <a:t>Gemini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44184" y="42062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63056" y="3749039"/>
            <a:ext cx="1828800" cy="128016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08776" y="422452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score_resume_vs_jd
runs. Returns
0-100 + blockers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63056" y="50749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0C4DE"/>
                </a:solidFill>
              </a:rPr>
              <a:t>scoring.py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37576" y="42062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56448" y="3749039"/>
            <a:ext cx="1828800" cy="12801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02168" y="422452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LLM formats
ranked results
→ responds to user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56448" y="50749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0C4DE"/>
                </a:solidFill>
              </a:rPr>
              <a:t>Gemini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Result: Ranked job list with match scores, matched skills, missing skills, and blockers specific to YOUR resume.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Complete Data Flow — Prompt-Only Mode (No Resume)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What happens when you just describe your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You don't HAVE to upload a resume. You can describe your skills in plain text. The agent adapts.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338560" cy="150876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3"/>
                </a:solidFill>
              </a:rPr>
              <a:t>Example user message (no resume):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"I have 2 years of Python experience, know FastAPI and PostgreSQL, currently a backend developer. Find me senior Python roles in Bangalore."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7355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3"/>
                </a:solidFill>
              </a:rPr>
              <a:t>What the agent does differently: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657600"/>
            <a:ext cx="11338560" cy="475488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712463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LLM extracts 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712463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Parses: role=Python, location=Bangalore, level=senior from the message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87952"/>
            <a:ext cx="1133856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424281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Calls search_jobs()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242816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Searches with extracted parameters. No resume in state.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718304"/>
            <a:ext cx="11338560" cy="475488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77316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703"/>
                </a:solidFill>
              </a:rPr>
              <a:t>Scoring without resume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773168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score_job_match() called but ResumeProfile is minimal (only what user described)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248656"/>
            <a:ext cx="1133856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530351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</a:rPr>
              <a:t>Basic fit verdict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5303519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Score based on: title overlap + keyword match only (less precise than with resume)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779008"/>
            <a:ext cx="11338560" cy="475488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5833871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76F"/>
                </a:solidFill>
              </a:rPr>
              <a:t>Agent suggests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5833871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Agent recommends: 'Upload your resume for more accurate job matching'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382512"/>
            <a:ext cx="11338560" cy="384048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B703"/>
                </a:solidFill>
              </a:rPr>
              <a:t>Key design: The agent works both ways. Resume mode = precise scoring. Prompt mode = quick discovery.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Testing Strategy — Why and How We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test_tools.py (1039 lines) + test_edge_cases.py (517 lines)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Tests catch bugs before users do. In AI systems, they also validate that deterministic logic stays correct when models change.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5669280" cy="228600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Unit Tests
(test_tools.py)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Test each tool function in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9689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Mock external APIs (don't actually call Adzuna)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077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Verify tool call ID repair (litellm_compat)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186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Verify Groq content normalization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958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Verify resume placeholder rejection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Fast: runs in milliseconds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5669280" cy="228600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71907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Edge Case Tests
(test_edge_cases.py)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'in' as preposition vs India country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9689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Experience '0-1 years' vs '0 years'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077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Negative years (invalid input handling)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186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Multi-role search deduplication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2958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Score consistency across identical inputs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8404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PDF with hex-encoded text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69080"/>
            <a:ext cx="5669280" cy="228600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14223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3"/>
                </a:solidFill>
              </a:rPr>
              <a:t>Evaluation Tests
(evaluation.py)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0916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Scoring quality validation with fixtures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2005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Verify score is within expected range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3309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Verify correct job ranked #1 in 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64184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Verify experience filter works correctly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5274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JSON fixtures = easy to add new test cases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2636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Slow: measures algorithmic correctness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069080"/>
            <a:ext cx="5669280" cy="228600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414223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Model Config Tests
(test_model_config.py)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70916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Verify model priority chain order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02005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Verify reasoning model downgrading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309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Test with each env var combination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64184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No actual API calls made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5274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Ensures model selection is predictable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Run all tests: python -m pytest tests/ -v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Environment Variables — Configuring the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.env file — secrets and feature toggles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E0EF"/>
                </a:solidFill>
              </a:rPr>
              <a:t>Environment variables separate secrets from code. Never hardcode API keys — they'd be exposed in version control.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27632"/>
            <a:ext cx="29260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6642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Variable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627632"/>
            <a:ext cx="16459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39" y="16642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Example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627632"/>
            <a:ext cx="9144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83480" y="16642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Required?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1627632"/>
            <a:ext cx="53035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0" y="166420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Description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247120" y="1627632"/>
            <a:ext cx="100584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292840" y="1664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Category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011680"/>
            <a:ext cx="11430000" cy="402336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2066544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B703"/>
                </a:solidFill>
              </a:rPr>
              <a:t>GOOGLE_API_KEY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39" y="206654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AIzaSy...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06654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6D6A0"/>
                </a:solidFill>
              </a:rPr>
              <a:t>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066544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Enables Gemini models + resume attachment parsing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2066544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B703"/>
                </a:solidFill>
              </a:rPr>
              <a:t>LLM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432304"/>
            <a:ext cx="11430000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2487168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B703"/>
                </a:solidFill>
              </a:rPr>
              <a:t>GROQ_API_KEY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39" y="248716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gsk_...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248716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</a:rPr>
              <a:t>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48716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Enables Groq Llama models (free tier available)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248716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B703"/>
                </a:solidFill>
              </a:rPr>
              <a:t>LLM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852928"/>
            <a:ext cx="11430000" cy="402336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" y="2907792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B703"/>
                </a:solidFill>
              </a:rPr>
              <a:t>NVIDIA_NIM_API_KEY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39" y="290779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nvapi-...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2907792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</a:rP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290779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Enables NVIDIA Nemotron models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2907792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B703"/>
                </a:solidFill>
              </a:rPr>
              <a:t>LLM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273552"/>
            <a:ext cx="11430000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3328416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B703"/>
                </a:solidFill>
              </a:rPr>
              <a:t>ADZUNA_APP_ID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39" y="332841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abc123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332841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</a:rPr>
              <a:t>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332841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Adzuna job search API application 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33284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4D8"/>
                </a:solidFill>
              </a:rPr>
              <a:t>Jobs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694176"/>
            <a:ext cx="11430000" cy="402336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0040" y="3749039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B703"/>
                </a:solidFill>
              </a:rPr>
              <a:t>ADZUNA_APP_KEY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39" y="3749039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xyz789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83480" y="3749039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</a:rPr>
              <a:t>no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3749039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Adzuna job search API secret key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92840" y="3749039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4D8"/>
                </a:solidFill>
              </a:rPr>
              <a:t>Jobs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114800"/>
            <a:ext cx="11430000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0040" y="4169663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B703"/>
                </a:solidFill>
              </a:rPr>
              <a:t>APIFY_TOKEN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39" y="4169663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apfy_...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83480" y="4169663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</a:rPr>
              <a:t>no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0" y="4169663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Apify token for Indeed scraper actor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92840" y="4169663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4D8"/>
                </a:solidFill>
              </a:rPr>
              <a:t>Jobs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4535424"/>
            <a:ext cx="11430000" cy="402336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0040" y="4590288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B703"/>
                </a:solidFill>
              </a:rPr>
              <a:t>BROWSERACT_API_KEY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91839" y="459028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bact_...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83480" y="459028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</a:rPr>
              <a:t>no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0" y="459028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BrowserAct API key for browser automation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92840" y="459028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4D8"/>
                </a:solidFill>
              </a:rPr>
              <a:t>Jobs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4956048"/>
            <a:ext cx="11430000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20040" y="5010912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B703"/>
                </a:solidFill>
              </a:rPr>
              <a:t>BROWSERACT_WORKFLOW_ID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91839" y="501091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wf_123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83480" y="5010912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</a:rPr>
              <a:t>no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0" y="501091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Which BrowserAct workflow to run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92840" y="5010912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4D8"/>
                </a:solidFill>
              </a:rPr>
              <a:t>Jobs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5376672"/>
            <a:ext cx="11430000" cy="402336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20040" y="5431536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B703"/>
                </a:solidFill>
              </a:rPr>
              <a:t>JOB_SCOUT_MODEL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91839" y="543153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gemini-2.0-flash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83480" y="543153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</a:rPr>
              <a:t>no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43600" y="543153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Override model selection (skips priority chain)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292840" y="543153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4D8"/>
                </a:solidFill>
              </a:rPr>
              <a:t>Config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5797296"/>
            <a:ext cx="11430000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20040" y="5852160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B703"/>
                </a:solidFill>
              </a:rPr>
              <a:t>ADZUNA_COUNTRY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91839" y="585216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in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83480" y="5852160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</a:rPr>
              <a:t>no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43600" y="585216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Default country for Adzuna search (default: gb)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292840" y="5852160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4D8"/>
                </a:solidFill>
              </a:rPr>
              <a:t>Config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5760" y="6355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6D6A0"/>
                </a:solidFill>
              </a:rPr>
              <a:t>No job API keys? → Demo mode activates automatically with synthetic data. Great for learning without spending money.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Key Design Decisions — Why Not the Other Way?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Every architectural choice has a reason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749039" cy="22402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749039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Google ADK
not LangChain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029967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ADK has native Gemini support, better file handling, and simpler tool registration. LangChain has more community resources but adds abstraction overhead.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749039" cy="22402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749039" cy="6400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3716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Pydantic
not raw dicts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2029967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Pydantic catches type errors at the boundary (parse time) instead of at use time. With AI outputs, validation is critical — LLMs can return unexpected structures.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3749039" cy="22402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280160"/>
            <a:ext cx="3749039" cy="64008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3716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FastAPI
not Flask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029967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FastAPI has native async support (needed for concurrent tool calls) and automatic Pydantic validation. Flask is simpler but synchronous by default.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03320"/>
            <a:ext cx="3749039" cy="22402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3749039" cy="64008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79475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Local PDF
extraction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445312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API calls cost money and latency. 80% of PDFs can be parsed locally in milliseconds. Fallback to LLM only when needed saves both cost and 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703320"/>
            <a:ext cx="3749039" cy="22402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97680" y="3703320"/>
            <a:ext cx="3749039" cy="64008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379475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Session state
not re-search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445312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Re-searching on every follow-up question wastes API quota and slows responses. Storing results once and filtering locally is faster and cheaper.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703320"/>
            <a:ext cx="3749039" cy="22402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3703320"/>
            <a:ext cx="3749039" cy="6400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379475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Demo mode
for dev/test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445312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Requiring real API credentials to run any code creates a high barrier to learning. Demo mode lets you explore the full flow without spending money.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739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B703"/>
                </a:solidFill>
              </a:rPr>
              <a:t>Rule of thumb: every design choice in this project favors debuggability and cost-efficiency over novelty.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Concepts You Learned in This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A checklist of your new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669280" cy="233172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66928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3502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AI / LLM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✓  What LLMs are and how they generate text (token prediction)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✓  Temperature — controlling randomness in LLM outputs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50591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✓  System prompts — giving instructions to an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9806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✓  Tool calling (function calling) — LLM requesting code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4553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✓  Context window — how agents 'remember' conversation history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669280" cy="233172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5669280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33502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Agent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75564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✓  Think → Act → Observe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031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✓  What a framework (ADK) does for you vs what you write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50591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✓  Session state — persistent memory across conversation turns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79806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✓  before_model_callback — dynamic prompt injection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14553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✓  Multi-provider LLM routing (Gemini, Groq, NVIDIA)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49039"/>
            <a:ext cx="5669280" cy="233172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749039"/>
            <a:ext cx="5669280" cy="38404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803903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Python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224527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✓  Pydantic for data validation and schema enforcement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57199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✓  Type hints and docstrings for LLM-readable tool definitions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919471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✓  Fallback chains (try A → B → C for reliability)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26694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✓  Monkey-patching for third-party library compatibility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614415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✓  REST APIs — calling Adzuna, Apify with HTTP requests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749039"/>
            <a:ext cx="5669280" cy="233172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3749039"/>
            <a:ext cx="5669280" cy="384048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3803903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System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224527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✓  When to use AI vs deterministic algorithms (scoring!)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57199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✓  Environment variables for secrets and config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919471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✓  Demo mode for development without real API costs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526694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✓  Multi-provider design for redundancy and cost control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614415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✓  Skill ontology — domain knowledge encoded as weights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06D6A0"/>
                </a:solidFill>
              </a:rPr>
              <a:t>You built something production-grade. Most developers with 5+ years haven't built a multi-provider AI agent.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How to Run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Step-by-step setup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338560" cy="91440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57200" y="1280160"/>
            <a:ext cx="475488" cy="475488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618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Step 1: Install Dependencies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583680" cy="804672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03520" y="1234440"/>
            <a:ext cx="6583680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40680" y="1527048"/>
            <a:ext cx="6309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FFC2"/>
                </a:solidFill>
              </a:rPr>
              <a:t>pip install -r requirements.txt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21991"/>
            <a:ext cx="11338560" cy="91440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313432"/>
            <a:ext cx="475488" cy="47548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331720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2951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Step 2: Create .env file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2267712"/>
            <a:ext cx="6583680" cy="804672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03520" y="2267712"/>
            <a:ext cx="6583680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40680" y="2560320"/>
            <a:ext cx="6309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FFC2"/>
                </a:solidFill>
              </a:rPr>
              <a:t>GOOGLE_API_KEY=your_key_here
ADZUNA_APP_ID=your_id
ADZUNA_APP_KEY=your_key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55263"/>
            <a:ext cx="11338560" cy="91440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57200" y="3346703"/>
            <a:ext cx="475488" cy="475488"/>
          </a:xfrm>
          <a:prstGeom prst="ellipse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364991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328415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3"/>
                </a:solidFill>
              </a:rPr>
              <a:t>Step 3: Run the server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3300984"/>
            <a:ext cx="6583680" cy="804672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03520" y="3300984"/>
            <a:ext cx="6583680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40680" y="3593591"/>
            <a:ext cx="6309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FFC2"/>
                </a:solidFill>
              </a:rPr>
              <a:t>python main.py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288536"/>
            <a:ext cx="11338560" cy="91440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7200" y="4379975"/>
            <a:ext cx="475488" cy="475488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39826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3616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Step 4: Open browser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0" y="4334256"/>
            <a:ext cx="6583680" cy="804672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303520" y="4334256"/>
            <a:ext cx="6583680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40680" y="4626864"/>
            <a:ext cx="6309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FFC2"/>
                </a:solidFill>
              </a:rPr>
              <a:t>http://localhost:8000  (or the URL shown in terminal)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321807"/>
            <a:ext cx="11338560" cy="91440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57200" y="5413248"/>
            <a:ext cx="475488" cy="475488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543153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39495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76F"/>
                </a:solidFill>
              </a:rPr>
              <a:t>Step 5: Run tests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03520" y="5367527"/>
            <a:ext cx="6583680" cy="804672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303520" y="5367527"/>
            <a:ext cx="6583680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40680" y="5660136"/>
            <a:ext cx="6309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FFC2"/>
                </a:solidFill>
              </a:rPr>
              <a:t>python -m pytest tests/ -v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1908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6D6A0"/>
                </a:solidFill>
              </a:rPr>
              <a:t>No job API keys? The agent runs in Demo Mode automatically — you'll see synthetic jobs. Great for testing the full flow!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Next Steps — What to Build/Learn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Your learning roadmap from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749039" cy="502920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749039" cy="4114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441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Beginner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10512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Read LEARN.md in the project — 1,592 lines of detailed explanations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Add a new tool: e.g. save_job_to_wishlist() that saves interesting jobs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01568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Modify the scoring weights in scoring.py and see how scores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97096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Add a new job provider to search_support.py (e.g., LinkedIn scraper)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92624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Write 5 new test cases in test_tools.py for edge cases you discover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749039" cy="502920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3749039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13441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Intermediate Projects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10512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Build a cover letter generator agent that uses your resume + job description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606040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Add email alerts: agent emails you when a new matching job appears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401568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Add a database (SQLite) to persist jobs and scores across sessions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197096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Build a simple React frontend instead of the default ADK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992624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Deploy to Google Cloud Run or Railway.app (real production deploy)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280160"/>
            <a:ext cx="3749039" cy="502920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0" y="1280160"/>
            <a:ext cx="3749039" cy="41148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13441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Advanced Concepts to Explore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1810512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RAG (Retrieval-Augmented Generation) — searching a vector DB for similar jobs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606040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Multi-agent systems — orchestrator agent + specialist sub-agents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401568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</a:rPr>
              <a:t>▸  Streaming responses — show LLM output word-by-word like ChatGPT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197096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Agent evaluation frameworks — systematically measuring agent quality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992624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Fine-tuning: train your own model on job-matching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B0C4DE"/>
                </a:solidFill>
              </a:rPr>
              <a:t>Resources: Google ADK docs · Pydantic docs · FastAPI docs · Gemini API docs · LEARN.md in this project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6D6A0"/>
                </a:solidFill>
              </a:rPr>
              <a:t>You Built This.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0E0EF"/>
                </a:solidFill>
              </a:rPr>
              <a:t>A production-grade, multi-provider AI agent with: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331720"/>
            <a:ext cx="1143000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514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</a:rPr>
              <a:t>✓  LLM-powered conversation (Google Gemini / Groq / NVIDIA)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449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6D6A0"/>
                </a:solidFill>
              </a:rPr>
              <a:t>✓  9 registered tools with automatic tool-calling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7530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B703"/>
                </a:solidFill>
              </a:rPr>
              <a:t>✓  3-layer resume parsing (local PDF → LLM text → Gemini vision)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056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E0EF"/>
                </a:solidFill>
              </a:rPr>
              <a:t>✓  4 job search providers (Adzuna, Apify, BrowserAct, Demo)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3600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F476F"/>
                </a:solidFill>
              </a:rPr>
              <a:t>✓  Deterministic skill-based scoring algorithm (0-100)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66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</a:rPr>
              <a:t>✓  Session state for multi-turn conversations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6967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6D6A0"/>
                </a:solidFill>
              </a:rPr>
              <a:t>✓  Full test suite (1500+ lines of tests)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897880"/>
            <a:ext cx="1143000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Keep building. Every expert was once a beginner who refused to stop.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492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Job Scout Agent  ·  Built with Google ADK + Gemini  ·  30 Slides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6226</Words>
  <Application>Microsoft Office PowerPoint</Application>
  <PresentationFormat>Custom</PresentationFormat>
  <Paragraphs>678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Chaitanya Galla</cp:lastModifiedBy>
  <cp:revision>3</cp:revision>
  <dcterms:created xsi:type="dcterms:W3CDTF">2013-01-27T09:14:16Z</dcterms:created>
  <dcterms:modified xsi:type="dcterms:W3CDTF">2026-05-18T19:35:11Z</dcterms:modified>
  <cp:category/>
</cp:coreProperties>
</file>